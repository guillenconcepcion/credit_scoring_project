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01828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18872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CRISP-DM MACHINE LEARNING PIPELINE • PRODUCTION SCORECARD • BASEL III / IFRS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45920"/>
            <a:ext cx="96012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/>
              </a:defRPr>
            </a:pPr>
            <a:r>
              <a:t>Enterprise Credit Risk Intelligence &amp;</a:t>
            </a:r>
            <a:br/>
            <a:r>
              <a:t>Automated Decisioning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38328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E2E8F0"/>
                </a:solidFill>
                <a:latin typeface="Segoe UI"/>
              </a:defRPr>
            </a:pPr>
            <a:r>
              <a:t>Modelado Integral de Probabilidad de Default (PD), Estabilidad Poblacional (PSI &lt; 0.10),</a:t>
            </a:r>
            <a:br/>
            <a:r>
              <a:t>Suscripción Inteligente y Tarificación Dinámica Ajustada por Riesgo (Risk-Based Pricing)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389120"/>
            <a:ext cx="9601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Segoe UI"/>
              </a:defRPr>
            </a:pPr>
            <a:r>
              <a:t>Guillén Concepción</a:t>
            </a:r>
          </a:p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Senior Data Scientist &amp; MLOps Engineer</a:t>
            </a:r>
          </a:p>
          <a:p>
            <a:pPr>
              <a:defRPr sz="1150">
                <a:solidFill>
                  <a:srgbClr val="94A3B8"/>
                </a:solidFill>
                <a:latin typeface="Segoe UI"/>
              </a:defRPr>
            </a:pPr>
            <a:r>
              <a:t>LinkedIn: in/guillen-concepcion  |  GitHub: @GuillenConcepcion  |  Email: guillenconcepcion@gmail.com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BUSINESS VALUE &amp; 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Segoe UI"/>
              </a:defRPr>
            </a:pPr>
            <a:r>
              <a:t>Resumen Ejecutivo: Impacto Estratégico y Valor de Negocio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60320" cy="1463040"/>
          </a:xfrm>
          <a:prstGeom prst="roundRect">
            <a:avLst/>
          </a:prstGeom>
          <a:solidFill>
            <a:srgbClr val="162035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25603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38BDF8"/>
                </a:solidFill>
                <a:latin typeface="Segoe UI"/>
              </a:defRPr>
            </a:pPr>
            <a:r>
              <a:t>32,581</a:t>
            </a:r>
          </a:p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Solicitudes Históricas</a:t>
            </a:r>
          </a:p>
          <a:p>
            <a:pPr algn="ctr">
              <a:defRPr sz="1000">
                <a:solidFill>
                  <a:srgbClr val="94A3B8"/>
                </a:solidFill>
                <a:latin typeface="Segoe UI"/>
              </a:defRPr>
            </a:pPr>
            <a:r>
              <a:t>100% de Cartera Analizada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371600"/>
            <a:ext cx="2560320" cy="1463040"/>
          </a:xfrm>
          <a:prstGeom prst="roundRect">
            <a:avLst/>
          </a:prstGeom>
          <a:solidFill>
            <a:srgbClr val="162035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56432" y="1417320"/>
            <a:ext cx="25603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34D399"/>
                </a:solidFill>
                <a:latin typeface="Segoe UI"/>
              </a:defRPr>
            </a:pPr>
            <a:r>
              <a:t>0.8329</a:t>
            </a:r>
          </a:p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Poder de Separación (AUC)</a:t>
            </a:r>
          </a:p>
          <a:p>
            <a:pPr algn="ctr">
              <a:defRPr sz="1000">
                <a:solidFill>
                  <a:srgbClr val="94A3B8"/>
                </a:solidFill>
                <a:latin typeface="Segoe UI"/>
              </a:defRPr>
            </a:pPr>
            <a:r>
              <a:t>Test Out-of-Sample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371600"/>
            <a:ext cx="2560320" cy="1463040"/>
          </a:xfrm>
          <a:prstGeom prst="roundRect">
            <a:avLst/>
          </a:prstGeom>
          <a:solidFill>
            <a:srgbClr val="162035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1344" y="1417320"/>
            <a:ext cx="25603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34D399"/>
                </a:solidFill>
                <a:latin typeface="Segoe UI"/>
              </a:defRPr>
            </a:pPr>
            <a:r>
              <a:t>0.6658</a:t>
            </a:r>
          </a:p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Coeficiente de Gini</a:t>
            </a:r>
          </a:p>
          <a:p>
            <a:pPr algn="ctr">
              <a:defRPr sz="1000">
                <a:solidFill>
                  <a:srgbClr val="94A3B8"/>
                </a:solidFill>
                <a:latin typeface="Segoe UI"/>
              </a:defRPr>
            </a:pPr>
            <a:r>
              <a:t>Alta Capacidad de Clasificación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1371600"/>
            <a:ext cx="2560320" cy="1463040"/>
          </a:xfrm>
          <a:prstGeom prst="roundRect">
            <a:avLst/>
          </a:prstGeom>
          <a:solidFill>
            <a:srgbClr val="162035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06256" y="1417320"/>
            <a:ext cx="25603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38BDF8"/>
                </a:solidFill>
                <a:latin typeface="Segoe UI"/>
              </a:defRPr>
            </a:pPr>
            <a:r>
              <a:t>&lt; 0.10</a:t>
            </a:r>
          </a:p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Estabilidad Temporal (PSI)</a:t>
            </a:r>
          </a:p>
          <a:p>
            <a:pPr algn="ctr">
              <a:defRPr sz="1000">
                <a:solidFill>
                  <a:srgbClr val="94A3B8"/>
                </a:solidFill>
                <a:latin typeface="Segoe UI"/>
              </a:defRPr>
            </a:pPr>
            <a:r>
              <a:t>Cero Deriva (2013-2022)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17520"/>
            <a:ext cx="3474720" cy="3383280"/>
          </a:xfrm>
          <a:prstGeom prst="roundRect">
            <a:avLst/>
          </a:prstGeom>
          <a:solidFill>
            <a:srgbClr val="162035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154680"/>
            <a:ext cx="3108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38BDF8"/>
                </a:solidFill>
                <a:latin typeface="Segoe UI"/>
              </a:defRPr>
            </a:pPr>
            <a:r>
              <a:t>Optimización del Negocio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8BDF8"/>
                </a:solidFill>
                <a:latin typeface="Segoe UI"/>
              </a:rPr>
              <a:t>• Trade-off de Rentabilidad: </a:t>
            </a:r>
            <a:r>
              <a:rPr b="0" sz="1100">
                <a:solidFill>
                  <a:srgbClr val="E2E8F0"/>
                </a:solidFill>
                <a:latin typeface="Segoe UI"/>
              </a:rPr>
              <a:t>Sustituye la evaluación subjetiva por un scorecard cuantitativo que maximiza colocaciones con pérdida controlada.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8BDF8"/>
                </a:solidFill>
                <a:latin typeface="Segoe UI"/>
              </a:rPr>
              <a:t>• Reducción de Mora: </a:t>
            </a:r>
            <a:r>
              <a:rPr b="0" sz="1100">
                <a:solidFill>
                  <a:srgbClr val="E2E8F0"/>
                </a:solidFill>
                <a:latin typeface="Segoe UI"/>
              </a:rPr>
              <a:t>Filtrado analítico de solicitudes de alto riesgo (Tier D/E) reduciendo el default promedio institucional.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8BDF8"/>
                </a:solidFill>
                <a:latin typeface="Segoe UI"/>
              </a:rPr>
              <a:t>• Escalabilidad: </a:t>
            </a:r>
            <a:r>
              <a:rPr b="0" sz="1100">
                <a:solidFill>
                  <a:srgbClr val="E2E8F0"/>
                </a:solidFill>
                <a:latin typeface="Segoe UI"/>
              </a:rPr>
              <a:t>Tiempos de respuesta inferiores a 50 milisegundos por solicitud crediticia.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3017520"/>
            <a:ext cx="3474720" cy="3383280"/>
          </a:xfrm>
          <a:prstGeom prst="roundRect">
            <a:avLst/>
          </a:prstGeom>
          <a:solidFill>
            <a:srgbClr val="162035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3154680"/>
            <a:ext cx="3108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34D399"/>
                </a:solidFill>
                <a:latin typeface="Segoe UI"/>
              </a:defRPr>
            </a:pPr>
            <a:r>
              <a:t>Gobernanza &amp; Cumplimiento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8BDF8"/>
                </a:solidFill>
                <a:latin typeface="Segoe UI"/>
              </a:rPr>
              <a:t>• Marco Basilea III / IFRS 9: </a:t>
            </a:r>
            <a:r>
              <a:rPr b="0" sz="1100">
                <a:solidFill>
                  <a:srgbClr val="E2E8F0"/>
                </a:solidFill>
                <a:latin typeface="Segoe UI"/>
              </a:rPr>
              <a:t>Estimación rigurosa de Probabilidad de Default (PD) y Pérdida Esperada (EL = PD × LGD × EAD).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8BDF8"/>
                </a:solidFill>
                <a:latin typeface="Segoe UI"/>
              </a:rPr>
              <a:t>• Explicabilidad Total: </a:t>
            </a:r>
            <a:r>
              <a:rPr b="0" sz="1100">
                <a:solidFill>
                  <a:srgbClr val="E2E8F0"/>
                </a:solidFill>
                <a:latin typeface="Segoe UI"/>
              </a:rPr>
              <a:t>Generación automática de 'Reason Codes' conformes a leyes de crédito justo (Equal Credit Opportunity Act / FCRA).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8BDF8"/>
                </a:solidFill>
                <a:latin typeface="Segoe UI"/>
              </a:rPr>
              <a:t>• Monitoreo Regulatorio: </a:t>
            </a:r>
            <a:r>
              <a:rPr b="0" sz="1100">
                <a:solidFill>
                  <a:srgbClr val="E2E8F0"/>
                </a:solidFill>
                <a:latin typeface="Segoe UI"/>
              </a:rPr>
              <a:t>Auditoría de drift continuo mediante Population Stability Index (PSI).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3017520"/>
            <a:ext cx="3474720" cy="3383280"/>
          </a:xfrm>
          <a:prstGeom prst="roundRect">
            <a:avLst/>
          </a:prstGeom>
          <a:solidFill>
            <a:srgbClr val="162035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3024" y="3154680"/>
            <a:ext cx="3108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BBF24"/>
                </a:solidFill>
                <a:latin typeface="Segoe UI"/>
              </a:defRPr>
            </a:pPr>
            <a:r>
              <a:t>Eficiencia Operativa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8BDF8"/>
                </a:solidFill>
                <a:latin typeface="Segoe UI"/>
              </a:rPr>
              <a:t>• Procesamiento STP: </a:t>
            </a:r>
            <a:r>
              <a:rPr b="0" sz="1100">
                <a:solidFill>
                  <a:srgbClr val="E2E8F0"/>
                </a:solidFill>
                <a:latin typeface="Segoe UI"/>
              </a:rPr>
              <a:t>Aprobación automática directa (Straight-Through Processing) en perfiles Prime (Tier A).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8BDF8"/>
                </a:solidFill>
                <a:latin typeface="Segoe UI"/>
              </a:rPr>
              <a:t>• Tarificación por Riesgo: </a:t>
            </a:r>
            <a:r>
              <a:rPr b="0" sz="1100">
                <a:solidFill>
                  <a:srgbClr val="E2E8F0"/>
                </a:solidFill>
                <a:latin typeface="Segoe UI"/>
              </a:rPr>
              <a:t>Asignación dinámica de spreads (+150 a +750 bps) en función del perfil de riesgo.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8BDF8"/>
                </a:solidFill>
                <a:latin typeface="Segoe UI"/>
              </a:rPr>
              <a:t>• Ahorro de Costes: </a:t>
            </a:r>
            <a:r>
              <a:rPr b="0" sz="1100">
                <a:solidFill>
                  <a:srgbClr val="E2E8F0"/>
                </a:solidFill>
                <a:latin typeface="Segoe UI"/>
              </a:rPr>
              <a:t>Reducción proyectada del 65% en tiempos de suscripción y análisis manual.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CRISP-DM PHASES &amp;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Segoe UI"/>
              </a:defRPr>
            </a:pPr>
            <a:r>
              <a:t>Arquitectura del Pipeline Analítico End-to-End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74720" cy="2240280"/>
          </a:xfrm>
          <a:prstGeom prst="roundRect">
            <a:avLst/>
          </a:prstGeom>
          <a:solidFill>
            <a:srgbClr val="162035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108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8BDF8"/>
                </a:solidFill>
                <a:latin typeface="Segoe UI"/>
              </a:defRPr>
            </a:pPr>
            <a:r>
              <a:t>Fase 1: Ingesta &amp; EDA</a:t>
            </a:r>
          </a:p>
          <a:p>
            <a:pPr>
              <a:defRPr sz="1200">
                <a:solidFill>
                  <a:srgbClr val="E2E8F0"/>
                </a:solidFill>
                <a:latin typeface="Segoe UI"/>
              </a:defRPr>
            </a:pPr>
            <a:r>
              <a:t>Reconstrucción temporal (vintage 2013-2022). Separación de histórico (26,616) vs cohorte Out-of-Time (5,965 obs). Reportes automatizados en Excel.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463040"/>
            <a:ext cx="3474720" cy="2240280"/>
          </a:xfrm>
          <a:prstGeom prst="roundRect">
            <a:avLst/>
          </a:prstGeom>
          <a:solidFill>
            <a:srgbClr val="162035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645920"/>
            <a:ext cx="3108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8BDF8"/>
                </a:solidFill>
                <a:latin typeface="Segoe UI"/>
              </a:defRPr>
            </a:pPr>
            <a:r>
              <a:t>Fase 2: Limpieza &amp; Split</a:t>
            </a:r>
          </a:p>
          <a:p>
            <a:pPr>
              <a:defRPr sz="1200">
                <a:solidFill>
                  <a:srgbClr val="E2E8F0"/>
                </a:solidFill>
                <a:latin typeface="Segoe UI"/>
              </a:defRPr>
            </a:pPr>
            <a:r>
              <a:t>Split 80/20 estratificado por def_year. Clipping IQR en Train exclusivo (Zero Data Leakage). Imputación de nulos con medianas y dummies.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0144" y="1463040"/>
            <a:ext cx="3474720" cy="2240280"/>
          </a:xfrm>
          <a:prstGeom prst="roundRect">
            <a:avLst/>
          </a:prstGeom>
          <a:solidFill>
            <a:srgbClr val="162035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3024" y="1645920"/>
            <a:ext cx="3108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8BDF8"/>
                </a:solidFill>
                <a:latin typeface="Segoe UI"/>
              </a:defRPr>
            </a:pPr>
            <a:r>
              <a:t>Fase 3: Asociación</a:t>
            </a:r>
          </a:p>
          <a:p>
            <a:pPr>
              <a:defRPr sz="1200">
                <a:solidFill>
                  <a:srgbClr val="E2E8F0"/>
                </a:solidFill>
                <a:latin typeface="Segoe UI"/>
              </a:defRPr>
            </a:pPr>
            <a:r>
              <a:t>Kruskal-Wallis para continuas vs default. V de Cramér para categóricas. Matrices Spearman y Cramér inter-variables para multicolinealidad.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3474720" cy="2240280"/>
          </a:xfrm>
          <a:prstGeom prst="roundRect">
            <a:avLst/>
          </a:prstGeom>
          <a:solidFill>
            <a:srgbClr val="162035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114800"/>
            <a:ext cx="3108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8BDF8"/>
                </a:solidFill>
                <a:latin typeface="Segoe UI"/>
              </a:defRPr>
            </a:pPr>
            <a:r>
              <a:t>Fase 4: Storytelling</a:t>
            </a:r>
          </a:p>
          <a:p>
            <a:pPr>
              <a:defRPr sz="1200">
                <a:solidFill>
                  <a:srgbClr val="E2E8F0"/>
                </a:solidFill>
                <a:latin typeface="Segoe UI"/>
              </a:defRPr>
            </a:pPr>
            <a:r>
              <a:t>Análisis de contingencia Chi² (Home Ownership: 1,248.48, p &lt; 1e-200). Gráficos ejecutivos Cole Nussbaumer Knaflic de alta resolución.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3931920"/>
            <a:ext cx="3474720" cy="2240280"/>
          </a:xfrm>
          <a:prstGeom prst="roundRect">
            <a:avLst/>
          </a:prstGeom>
          <a:solidFill>
            <a:srgbClr val="162035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4114800"/>
            <a:ext cx="3108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8BDF8"/>
                </a:solidFill>
                <a:latin typeface="Segoe UI"/>
              </a:defRPr>
            </a:pPr>
            <a:r>
              <a:t>Fase 5: Estabilidad PSI</a:t>
            </a:r>
          </a:p>
          <a:p>
            <a:pPr>
              <a:defRPr sz="1200">
                <a:solidFill>
                  <a:srgbClr val="E2E8F0"/>
                </a:solidFill>
                <a:latin typeface="Segoe UI"/>
              </a:defRPr>
            </a:pPr>
            <a:r>
              <a:t>Monitoreo temporal ventana a ventana (2013-2021) y Train vs Test vs OOT. Todas las variables con PSI &lt; 0.02 (Estabilidad máxima).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3931920"/>
            <a:ext cx="3474720" cy="2240280"/>
          </a:xfrm>
          <a:prstGeom prst="roundRect">
            <a:avLst/>
          </a:prstGeom>
          <a:solidFill>
            <a:srgbClr val="162035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93024" y="4114800"/>
            <a:ext cx="3108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8BDF8"/>
                </a:solidFill>
                <a:latin typeface="Segoe UI"/>
              </a:defRPr>
            </a:pPr>
            <a:r>
              <a:t>Fase 6: Selección 4-Folds</a:t>
            </a:r>
          </a:p>
          <a:p>
            <a:pPr>
              <a:defRPr sz="1200">
                <a:solidFill>
                  <a:srgbClr val="E2E8F0"/>
                </a:solidFill>
                <a:latin typeface="Segoe UI"/>
              </a:defRPr>
            </a:pPr>
            <a:r>
              <a:t>Pipeline multi-regla sobre validación cruzada: Filtro univariado (KW/V) y multicolinealidad (Spearman/V). Reducción óptima a 7 variables clave.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DATASET SPLITS &amp; LEAKAGE PREVENTION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Segoe UI"/>
              </a:defRPr>
            </a:pPr>
            <a:r>
              <a:t>Estratificación y Partición Metodológica de Datos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53035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05840"/>
                <a:gridCol w="914400"/>
                <a:gridCol w="1005840"/>
                <a:gridCol w="128016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Partición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Volumen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% Total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Defaults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Tasa Default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Train (Desarrollo)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21,292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65.3%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4,562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21.43%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Test (Out-of-Sample)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5,324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16.3%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1,140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21.41%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OOT (Temporal 2022)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5,965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18.3%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1,406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23.57%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3749039"/>
            <a:ext cx="5303520" cy="2651760"/>
          </a:xfrm>
          <a:prstGeom prst="roundRect">
            <a:avLst/>
          </a:prstGeom>
          <a:solidFill>
            <a:srgbClr val="162035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88620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4D399"/>
                </a:solidFill>
                <a:latin typeface="Segoe UI"/>
              </a:defRPr>
            </a:pPr>
            <a:r>
              <a:t>Garantías Metodológicas Anti-Fuga (Zero Leakage)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8BDF8"/>
                </a:solidFill>
                <a:latin typeface="Segoe UI"/>
              </a:rPr>
              <a:t>1. Aislamiento Estricto: </a:t>
            </a:r>
            <a:r>
              <a:rPr b="0" sz="1100">
                <a:solidFill>
                  <a:srgbClr val="E2E8F0"/>
                </a:solidFill>
                <a:latin typeface="Segoe UI"/>
              </a:rPr>
              <a:t>Los cuartiles IQR de clipping y la mediana de imputación se calcularon únicamente sobre Train.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8BDF8"/>
                </a:solidFill>
                <a:latin typeface="Segoe UI"/>
              </a:rPr>
              <a:t>2. Estratificación Bivariada: </a:t>
            </a:r>
            <a:r>
              <a:rPr b="0" sz="1100">
                <a:solidFill>
                  <a:srgbClr val="E2E8F0"/>
                </a:solidFill>
                <a:latin typeface="Segoe UI"/>
              </a:rPr>
              <a:t>El split preservó la tasa exacta de default combinando target y año (def_year).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8BDF8"/>
                </a:solidFill>
                <a:latin typeface="Segoe UI"/>
              </a:rPr>
              <a:t>3. Muestra Ciega Out-of-Time: </a:t>
            </a:r>
            <a:r>
              <a:rPr b="0" sz="1100">
                <a:solidFill>
                  <a:srgbClr val="E2E8F0"/>
                </a:solidFill>
                <a:latin typeface="Segoe UI"/>
              </a:rPr>
              <a:t>La cohorte 2022 (OOT) evalúa la estabilidad frente a shocks temporales reales.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371600"/>
            <a:ext cx="5120640" cy="5029200"/>
          </a:xfrm>
          <a:prstGeom prst="roundRect">
            <a:avLst/>
          </a:prstGeom>
          <a:solidFill>
            <a:srgbClr val="162035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hart_spl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63040"/>
            <a:ext cx="49377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FEATURE DISCRIMINATION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Segoe UI"/>
              </a:defRPr>
            </a:pPr>
            <a:r>
              <a:t>Discriminación de Atributos &amp; Storytelling Visual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394960" cy="5029200"/>
          </a:xfrm>
          <a:prstGeom prst="roundRect">
            <a:avLst/>
          </a:prstGeom>
          <a:solidFill>
            <a:srgbClr val="162035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fault_by_owners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91640"/>
            <a:ext cx="5120640" cy="4297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0" y="1371600"/>
            <a:ext cx="5029200" cy="5029200"/>
          </a:xfrm>
          <a:prstGeom prst="roundRect">
            <a:avLst/>
          </a:prstGeom>
          <a:solidFill>
            <a:srgbClr val="162035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54480"/>
            <a:ext cx="46634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Hallazgos de Discriminación y Pruebas Estadísticas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BBF24"/>
                </a:solidFill>
                <a:latin typeface="Segoe UI"/>
              </a:rPr>
              <a:t>Régimen de Vivienda: </a:t>
            </a:r>
            <a:r>
              <a:rPr b="0" sz="1200">
                <a:solidFill>
                  <a:srgbClr val="E2E8F0"/>
                </a:solidFill>
                <a:latin typeface="Segoe UI"/>
              </a:rPr>
              <a:t>Chi² = 1,248.48 (p &lt; 1e-200), V de Cramér = 0.242.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38BDF8"/>
                </a:solidFill>
                <a:latin typeface="Segoe UI"/>
              </a:rPr>
              <a:t>• Inquilinos (RENT): </a:t>
            </a:r>
            <a:r>
              <a:rPr b="0" sz="1150">
                <a:solidFill>
                  <a:srgbClr val="E2E8F0"/>
                </a:solidFill>
                <a:latin typeface="Segoe UI"/>
              </a:rPr>
              <a:t>31.32% de mora (50.4% de las solicitudes).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38BDF8"/>
                </a:solidFill>
                <a:latin typeface="Segoe UI"/>
              </a:rPr>
              <a:t>• Hipoteca (MORTGAGE): </a:t>
            </a:r>
            <a:r>
              <a:rPr b="0" sz="1150">
                <a:solidFill>
                  <a:srgbClr val="E2E8F0"/>
                </a:solidFill>
                <a:latin typeface="Segoe UI"/>
              </a:rPr>
              <a:t>12.58% de mora (41.2% de las solicitudes).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38BDF8"/>
                </a:solidFill>
                <a:latin typeface="Segoe UI"/>
              </a:rPr>
              <a:t>• Vivienda Propia (OWN): </a:t>
            </a:r>
            <a:r>
              <a:rPr b="0" sz="1150">
                <a:solidFill>
                  <a:srgbClr val="E2E8F0"/>
                </a:solidFill>
                <a:latin typeface="Segoe UI"/>
              </a:rPr>
              <a:t>7.32% de mora (8.0% de las solicitudes).</a:t>
            </a:r>
          </a:p>
          <a:p>
            <a:pPr>
              <a:spcAft>
                <a:spcPts val="1200"/>
              </a:spcAft>
            </a:pPr>
            <a:r>
              <a:rPr b="1" sz="1150">
                <a:solidFill>
                  <a:srgbClr val="38BDF8"/>
                </a:solidFill>
                <a:latin typeface="Segoe UI"/>
              </a:rPr>
              <a:t>Insight Clave: </a:t>
            </a:r>
            <a:r>
              <a:rPr b="0" sz="1150">
                <a:solidFill>
                  <a:srgbClr val="34D399"/>
                </a:solidFill>
                <a:latin typeface="Segoe UI"/>
              </a:rPr>
              <a:t>Los inquilinos registran un riesgo 4.3x superior frente a propietarios de vivienda libre de cargas.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FBBF24"/>
                </a:solidFill>
                <a:latin typeface="Segoe UI"/>
              </a:rPr>
              <a:t>Monotonicidad por Calificación: </a:t>
            </a:r>
            <a:r>
              <a:rPr b="0" sz="1150">
                <a:solidFill>
                  <a:srgbClr val="E2E8F0"/>
                </a:solidFill>
                <a:latin typeface="Segoe UI"/>
              </a:rPr>
              <a:t>Loan Grade A (9.9%) hasta G (98.4%) confirma estricta consistencia lógica.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38BDF8"/>
                </a:solidFill>
                <a:latin typeface="Segoe UI"/>
              </a:rPr>
              <a:t>Fuerza Bivariada Cuantitativa: </a:t>
            </a:r>
            <a:r>
              <a:rPr b="0" sz="1150">
                <a:solidFill>
                  <a:srgbClr val="E2E8F0"/>
                </a:solidFill>
                <a:latin typeface="Segoe UI"/>
              </a:rPr>
              <a:t>DTI (KW = 2,135.9), Tasa (KW = 1,861.4) e Ingreso (KW = 1,566.8) lideran la capacidad explicativa.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REGULATORY DRIFT &amp; POPULATION STABILITY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Segoe UI"/>
              </a:defRPr>
            </a:pPr>
            <a:r>
              <a:t>Evaluación de Estabilidad Poblacional (PSI)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53035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1097280"/>
                <a:gridCol w="1280160"/>
              </a:tblGrid>
              <a:tr h="444137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Variable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Train vs Test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Train vs OOT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Diagnóstico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person_income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0.0010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0.0184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✅ Estable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person_emp_length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0.0006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0.0136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✅ Estable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loan_int_rate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0.0000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0.0001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✅ Estable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loan_percent_income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0.0002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0.0020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✅ Estable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home_ownership_3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0.0002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0.0034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✅ Estable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</a:tr>
              <a:tr h="444138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cb_person_default_on_file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0.0000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0.0001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✅ Estable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663440"/>
            <a:ext cx="5303520" cy="1737360"/>
          </a:xfrm>
          <a:prstGeom prst="roundRect">
            <a:avLst/>
          </a:prstGeom>
          <a:solidFill>
            <a:srgbClr val="162035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Criterios Regulatorios de Deriva Poblacional (PSI)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34D399"/>
                </a:solidFill>
                <a:latin typeface="Segoe UI"/>
              </a:rPr>
              <a:t>• PSI &lt; 0.10 (Zona Verde): </a:t>
            </a:r>
            <a:r>
              <a:rPr b="0" sz="1050">
                <a:solidFill>
                  <a:srgbClr val="E2E8F0"/>
                </a:solidFill>
                <a:latin typeface="Segoe UI"/>
              </a:rPr>
              <a:t>Distribución estable. No requiere ajuste ni recalibración.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BBF24"/>
                </a:solidFill>
                <a:latin typeface="Segoe UI"/>
              </a:rPr>
              <a:t>• 0.10 &lt;= PSI &lt; 0.25 (Zona Ámbar): </a:t>
            </a:r>
            <a:r>
              <a:rPr b="0" sz="1050">
                <a:solidFill>
                  <a:srgbClr val="E2E8F0"/>
                </a:solidFill>
                <a:latin typeface="Segoe UI"/>
              </a:rPr>
              <a:t>Deriva moderada. Monitoreo estrecho requerido.</a:t>
            </a:r>
          </a:p>
          <a:p>
            <a:pPr>
              <a:spcAft>
                <a:spcPts val="200"/>
              </a:spcAft>
            </a:pPr>
            <a:r>
              <a:rPr b="1" sz="1050">
                <a:solidFill>
                  <a:srgbClr val="FB7185"/>
                </a:solidFill>
                <a:latin typeface="Segoe UI"/>
              </a:rPr>
              <a:t>• PSI &gt;= 0.25 (Zona Roja): </a:t>
            </a:r>
            <a:r>
              <a:rPr b="0" sz="1050">
                <a:solidFill>
                  <a:srgbClr val="E2E8F0"/>
                </a:solidFill>
                <a:latin typeface="Segoe UI"/>
              </a:rPr>
              <a:t>Deriva severa. Descalibración crítica; reentrenamiento obligatorio.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371600"/>
            <a:ext cx="5120640" cy="5029200"/>
          </a:xfrm>
          <a:prstGeom prst="roundRect">
            <a:avLst/>
          </a:prstGeom>
          <a:solidFill>
            <a:srgbClr val="162035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hart_p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45920"/>
            <a:ext cx="48463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FEATURE SELECTION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Segoe UI"/>
              </a:defRPr>
            </a:pPr>
            <a:r>
              <a:t>Proceso de Selección de Variables (4-Fold Multi-Regla)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60320" cy="2011680"/>
          </a:xfrm>
          <a:prstGeom prst="roundRect">
            <a:avLst/>
          </a:prstGeom>
          <a:solidFill>
            <a:srgbClr val="162035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6304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Regla 1: KW Continuo</a:t>
            </a:r>
          </a:p>
          <a:p>
            <a:pPr>
              <a:defRPr sz="1050">
                <a:solidFill>
                  <a:srgbClr val="94A3B8"/>
                </a:solidFill>
                <a:latin typeface="Segoe UI"/>
              </a:defRPr>
            </a:pPr>
            <a:r>
              <a:t>Umbral: p &lt; 0.05 en los 4 Folds</a:t>
            </a:r>
          </a:p>
          <a:p>
            <a:pPr>
              <a:defRPr sz="1050">
                <a:solidFill>
                  <a:srgbClr val="E2E8F0"/>
                </a:solidFill>
                <a:latin typeface="Segoe UI"/>
              </a:defRPr>
            </a:pPr>
            <a:r>
              <a:t>Filtra variables continuas sin relación bivariada con el default.</a:t>
            </a:r>
          </a:p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Retenidas: 7 retenidas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371600"/>
            <a:ext cx="2560320" cy="2011680"/>
          </a:xfrm>
          <a:prstGeom prst="roundRect">
            <a:avLst/>
          </a:prstGeom>
          <a:solidFill>
            <a:srgbClr val="162035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3592" y="146304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Regla 2: Cramér's V Categórico</a:t>
            </a:r>
          </a:p>
          <a:p>
            <a:pPr>
              <a:defRPr sz="1050">
                <a:solidFill>
                  <a:srgbClr val="94A3B8"/>
                </a:solidFill>
                <a:latin typeface="Segoe UI"/>
              </a:defRPr>
            </a:pPr>
            <a:r>
              <a:t>Umbral: 0.10 &lt;= V &lt;= 0.50</a:t>
            </a:r>
          </a:p>
          <a:p>
            <a:pPr>
              <a:defRPr sz="1050">
                <a:solidFill>
                  <a:srgbClr val="E2E8F0"/>
                </a:solidFill>
                <a:latin typeface="Segoe UI"/>
              </a:defRPr>
            </a:pPr>
            <a:r>
              <a:t>Descarta predictores débiles y cuasi-identidades deterministas.</a:t>
            </a:r>
          </a:p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Retenidas: 3 retenidas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371600"/>
            <a:ext cx="2560320" cy="2011680"/>
          </a:xfrm>
          <a:prstGeom prst="roundRect">
            <a:avLst/>
          </a:prstGeom>
          <a:solidFill>
            <a:srgbClr val="162035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46304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Regla 3: Spearman Multicolineal</a:t>
            </a:r>
          </a:p>
          <a:p>
            <a:pPr>
              <a:defRPr sz="1050">
                <a:solidFill>
                  <a:srgbClr val="94A3B8"/>
                </a:solidFill>
                <a:latin typeface="Segoe UI"/>
              </a:defRPr>
            </a:pPr>
            <a:r>
              <a:t>Umbral: |r| &lt; 0.50</a:t>
            </a:r>
          </a:p>
          <a:p>
            <a:pPr>
              <a:defRPr sz="1050">
                <a:solidFill>
                  <a:srgbClr val="E2E8F0"/>
                </a:solidFill>
                <a:latin typeface="Segoe UI"/>
              </a:defRPr>
            </a:pPr>
            <a:r>
              <a:t>Elimina variables colineales conservando la de mayor Kruskal-Wallis.</a:t>
            </a:r>
          </a:p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Retenidas: 5 continuas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1371600"/>
            <a:ext cx="2560320" cy="2011680"/>
          </a:xfrm>
          <a:prstGeom prst="roundRect">
            <a:avLst/>
          </a:prstGeom>
          <a:solidFill>
            <a:srgbClr val="162035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43416" y="146304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Regla 4: Cramér Inter-Categórico</a:t>
            </a:r>
          </a:p>
          <a:p>
            <a:pPr>
              <a:defRPr sz="1050">
                <a:solidFill>
                  <a:srgbClr val="94A3B8"/>
                </a:solidFill>
                <a:latin typeface="Segoe UI"/>
              </a:defRPr>
            </a:pPr>
            <a:r>
              <a:t>Umbral: V inter &lt; 0.50</a:t>
            </a:r>
          </a:p>
          <a:p>
            <a:pPr>
              <a:defRPr sz="1050">
                <a:solidFill>
                  <a:srgbClr val="E2E8F0"/>
                </a:solidFill>
                <a:latin typeface="Segoe UI"/>
              </a:defRPr>
            </a:pPr>
            <a:r>
              <a:t>Elimina redundancia estructural (ej. loan_grade vs default_on_file).</a:t>
            </a:r>
          </a:p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Retenidas: 2 categóricas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31520" y="3566160"/>
          <a:ext cx="106984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2926080"/>
                <a:gridCol w="4114800"/>
              </a:tblGrid>
              <a:tr h="35433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Variable Técnica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Tipo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Nombre de Negocio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Rol en la Política de Riesgo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person_income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Continua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Ingreso Anual ($)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Capacidad de pago y solidez patrimonial del cliente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loan_percent_income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Continua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Ratio Préstamo/Ingreso (DTI)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Nivel de apalancamiento y carga de servicio de deuda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loan_int_rate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Continua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Tasa de Interés (%)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Prima de riesgo asignada por la entidad financiera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person_home_ownership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Categórica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Régimen de Vivienda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Estabilidad habitacional y respaldo patrimonial (OWN/RENT)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cb_person_default_on_file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Categórica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Historial Previo de Mora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Comportamiento crediticio histórico negativo en buró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person_emp_length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Continua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Antigüedad Laboral (Años)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Estabilidad y permanencia en la fuente de ingresos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person_age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Continua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Edad del Solicitante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Ciclo de vida, madurez y horizonte financiero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MODEL PERFORMANCE &amp;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Segoe UI"/>
              </a:defRPr>
            </a:pPr>
            <a:r>
              <a:t>Rendimiento y Calibración del Scorecard en Producción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303520" cy="5029200"/>
          </a:xfrm>
          <a:prstGeom prst="roundRect">
            <a:avLst/>
          </a:prstGeom>
          <a:solidFill>
            <a:srgbClr val="162035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9377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Resultados de Validación y Escala FICO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4D399"/>
                </a:solidFill>
                <a:latin typeface="Segoe UI"/>
              </a:rPr>
              <a:t>Test ROC-AUC: </a:t>
            </a:r>
            <a:r>
              <a:rPr b="0" sz="1200">
                <a:solidFill>
                  <a:srgbClr val="E2E8F0"/>
                </a:solidFill>
                <a:latin typeface="Segoe UI"/>
              </a:rPr>
              <a:t>0.8329 (Poder de discriminación excelente).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4D399"/>
                </a:solidFill>
                <a:latin typeface="Segoe UI"/>
              </a:rPr>
              <a:t>Test Gini: </a:t>
            </a:r>
            <a:r>
              <a:rPr b="0" sz="1200">
                <a:solidFill>
                  <a:srgbClr val="E2E8F0"/>
                </a:solidFill>
                <a:latin typeface="Segoe UI"/>
              </a:rPr>
              <a:t>0.6658 (Gini = 2 × AUC - 1).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8BDF8"/>
                </a:solidFill>
                <a:latin typeface="Segoe UI"/>
              </a:rPr>
              <a:t>Brier Score: </a:t>
            </a:r>
            <a:r>
              <a:rPr b="0" sz="1200">
                <a:solidFill>
                  <a:srgbClr val="E2E8F0"/>
                </a:solidFill>
                <a:latin typeface="Segoe UI"/>
              </a:rPr>
              <a:t>0.1261 (Calibración probabilística fiable).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38BDF8"/>
                </a:solidFill>
                <a:latin typeface="Segoe UI"/>
              </a:rPr>
              <a:t>Estadístico KS: </a:t>
            </a:r>
            <a:r>
              <a:rPr b="0" sz="1200">
                <a:solidFill>
                  <a:srgbClr val="E2E8F0"/>
                </a:solidFill>
                <a:latin typeface="Segoe UI"/>
              </a:rPr>
              <a:t>0.528 (Máxima separación en 3er decil de score).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BBF24"/>
                </a:solidFill>
                <a:latin typeface="Segoe UI"/>
              </a:rPr>
              <a:t>Fórmula FICO: </a:t>
            </a:r>
            <a:r>
              <a:rPr b="0" sz="1200">
                <a:solidFill>
                  <a:srgbClr val="E2E8F0"/>
                </a:solidFill>
                <a:latin typeface="Segoe UI"/>
              </a:rPr>
              <a:t>Score = Offset - Factor × ln(Odds)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8BDF8"/>
                </a:solidFill>
                <a:latin typeface="Segoe UI"/>
              </a:rPr>
              <a:t>• PDO (Points to Double Odds): </a:t>
            </a:r>
            <a:r>
              <a:rPr b="0" sz="1100">
                <a:solidFill>
                  <a:srgbClr val="E2E8F0"/>
                </a:solidFill>
                <a:latin typeface="Segoe UI"/>
              </a:rPr>
              <a:t>20 puntos por duplicación de odds.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8BDF8"/>
                </a:solidFill>
                <a:latin typeface="Segoe UI"/>
              </a:rPr>
              <a:t>• Base Score: </a:t>
            </a:r>
            <a:r>
              <a:rPr b="0" sz="1100">
                <a:solidFill>
                  <a:srgbClr val="E2E8F0"/>
                </a:solidFill>
                <a:latin typeface="Segoe UI"/>
              </a:rPr>
              <a:t>600 puntos para Odds de 50:1 (PD = 1.96%).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8BDF8"/>
                </a:solidFill>
                <a:latin typeface="Segoe UI"/>
              </a:rPr>
              <a:t>• Parámetros: </a:t>
            </a:r>
            <a:r>
              <a:rPr b="0" sz="1100">
                <a:solidFill>
                  <a:srgbClr val="E2E8F0"/>
                </a:solidFill>
                <a:latin typeface="Segoe UI"/>
              </a:rPr>
              <a:t>Factor ≈ 28.85, Offset ≈ 712.87.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38BDF8"/>
                </a:solidFill>
                <a:latin typeface="Segoe UI"/>
              </a:rPr>
              <a:t>Cumplimiento Regulatorio: </a:t>
            </a:r>
            <a:r>
              <a:rPr b="0" sz="1150">
                <a:solidFill>
                  <a:srgbClr val="34D399"/>
                </a:solidFill>
                <a:latin typeface="Segoe UI"/>
              </a:rPr>
              <a:t>Interpretabilidad aditiva requerida por reguladores bancarios.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371600"/>
            <a:ext cx="5120640" cy="5029200"/>
          </a:xfrm>
          <a:prstGeom prst="roundRect">
            <a:avLst/>
          </a:prstGeom>
          <a:solidFill>
            <a:srgbClr val="162035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art_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484632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POLICY MATRIX &amp; RISK-BASED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Segoe UI"/>
              </a:defRPr>
            </a:pPr>
            <a:r>
              <a:t>Motor de Decisiones Inteligente &amp; Matriz de Políticas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728655" cy="1188720"/>
          </a:xfrm>
          <a:prstGeom prst="roundRect">
            <a:avLst/>
          </a:prstGeom>
          <a:solidFill>
            <a:srgbClr val="162035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FB7185"/>
                </a:solidFill>
                <a:latin typeface="Segoe UI"/>
              </a:defRPr>
            </a:pPr>
            <a:r>
              <a:t>Compuerta Pre-Scoring: Reglas de Exclusión Dura (Knockout Filters)</a:t>
            </a:r>
          </a:p>
          <a:p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• KO-01: Menor de 18 años   |   • KO-02: Mayor de 80 años   |   • KO-03: Ingreso &lt; $8,000 USD   |   • KO-04: DTI &gt; 65%   |   • KO-05: Cooldown &lt; 90 días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743200"/>
          <a:ext cx="106984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463040"/>
                <a:gridCol w="1463040"/>
                <a:gridCol w="2560320"/>
                <a:gridCol w="1645920"/>
                <a:gridCol w="164592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Tramo de Riesgo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Rango Score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Prob. Default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Decisión Operativa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Límite Máximo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Spread Tasa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Tier A (Prime)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750 - 850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&lt; 4.5%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Aprobación Automática (STP)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125% del monto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+150 bps (7.00%)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Tier B (Bajo Riesgo)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670 - 749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4.5% - 12.0%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Aprobado Estándar (DTI &lt;= 28%)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100% del monto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+250 bps (8.00%)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Tier C (Near-Prime)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600 - 669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12.0% - 24.0%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Revisión Manual / Condicionado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80% del monto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+450 bps (10.00%)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Tier D (Subprime)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530 - 599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24.0% - 42.0%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Aprobación con Aval / Colateral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50% del monto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+750 bps (13.00%)</a:t>
                      </a:r>
                    </a:p>
                  </a:txBody>
                  <a:tcPr anchor="ctr">
                    <a:solidFill>
                      <a:srgbClr val="10182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Tier E (Crítico)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300 - 529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&gt; 42.0%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Rechazado por Política de Riesgo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0%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Declinado</a:t>
                      </a:r>
                    </a:p>
                  </a:txBody>
                  <a:tcPr anchor="ctr">
                    <a:solidFill>
                      <a:srgbClr val="16203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" y="5394960"/>
            <a:ext cx="10728655" cy="1005840"/>
          </a:xfrm>
          <a:prstGeom prst="roundRect">
            <a:avLst/>
          </a:prstGeom>
          <a:solidFill>
            <a:srgbClr val="162035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4406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Modelado de Pérdida Esperada IFRS 9:   EL = PD × LGD × EAD</a:t>
            </a:r>
          </a:p>
          <a:p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LGD no garantizada = 55% | LGD con garantía real = 25% | EAD = Saldo expuesto al default | Cálculo en tiempo real por solicitud.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MLOPS &amp; INTERACTIVE USER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Segoe UI"/>
              </a:defRPr>
            </a:pPr>
            <a:r>
              <a:t>Dashboard Web Interactivo &amp; Simulador en Tiempo Real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303520" cy="5029200"/>
          </a:xfrm>
          <a:prstGeom prst="roundRect">
            <a:avLst/>
          </a:prstGeom>
          <a:solidFill>
            <a:srgbClr val="162035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9377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Arquitectura y Componentes de la Plataforma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4D399"/>
                </a:solidFill>
                <a:latin typeface="Segoe UI"/>
              </a:rPr>
              <a:t>Backend de Inferencia: </a:t>
            </a:r>
            <a:r>
              <a:rPr b="0" sz="1200">
                <a:solidFill>
                  <a:srgbClr val="E2E8F0"/>
                </a:solidFill>
                <a:latin typeface="Segoe UI"/>
              </a:rPr>
              <a:t>FastAPI asíncrono sobre servidor Uvicorn.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4D399"/>
                </a:solidFill>
                <a:latin typeface="Segoe UI"/>
              </a:rPr>
              <a:t>Frontend Moderno: </a:t>
            </a:r>
            <a:r>
              <a:rPr b="0" sz="1200">
                <a:solidFill>
                  <a:srgbClr val="E2E8F0"/>
                </a:solidFill>
                <a:latin typeface="Segoe UI"/>
              </a:rPr>
              <a:t>HTML5 semántico, Vanilla CSS Dark Mode y Chart.js.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38BDF8"/>
                </a:solidFill>
                <a:latin typeface="Segoe UI"/>
              </a:rPr>
              <a:t>Rendimiento: </a:t>
            </a:r>
            <a:r>
              <a:rPr b="0" sz="1200">
                <a:solidFill>
                  <a:srgbClr val="E2E8F0"/>
                </a:solidFill>
                <a:latin typeface="Segoe UI"/>
              </a:rPr>
              <a:t>Latencia de inferencia inferior a 50 milisegundos.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BBF24"/>
                </a:solidFill>
                <a:latin typeface="Segoe UI"/>
              </a:rPr>
              <a:t>5 Módulos Integrados: </a:t>
            </a:r>
            <a:r>
              <a:rPr b="0" sz="1200">
                <a:solidFill>
                  <a:srgbClr val="E2E8F0"/>
                </a:solidFill>
                <a:latin typeface="Segoe UI"/>
              </a:rPr>
              <a:t/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8BDF8"/>
                </a:solidFill>
                <a:latin typeface="Segoe UI"/>
              </a:rPr>
              <a:t>1. Simulador: </a:t>
            </a:r>
            <a:r>
              <a:rPr b="0" sz="1100">
                <a:solidFill>
                  <a:srgbClr val="E2E8F0"/>
                </a:solidFill>
                <a:latin typeface="Segoe UI"/>
              </a:rPr>
              <a:t>Cálculo en vivo de score, probabilidad de mora y dictamen.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8BDF8"/>
                </a:solidFill>
                <a:latin typeface="Segoe UI"/>
              </a:rPr>
              <a:t>2. Visión Ejecutiva: </a:t>
            </a:r>
            <a:r>
              <a:rPr b="0" sz="1100">
                <a:solidFill>
                  <a:srgbClr val="E2E8F0"/>
                </a:solidFill>
                <a:latin typeface="Segoe UI"/>
              </a:rPr>
              <a:t>KPIs globales y tablas de particiones (Train/Test/OOT).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8BDF8"/>
                </a:solidFill>
                <a:latin typeface="Segoe UI"/>
              </a:rPr>
              <a:t>3. Discriminación: </a:t>
            </a:r>
            <a:r>
              <a:rPr b="0" sz="1100">
                <a:solidFill>
                  <a:srgbClr val="E2E8F0"/>
                </a:solidFill>
                <a:latin typeface="Segoe UI"/>
              </a:rPr>
              <a:t>Storytelling de tenencia de vivienda y grados de préstamo.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8BDF8"/>
                </a:solidFill>
                <a:latin typeface="Segoe UI"/>
              </a:rPr>
              <a:t>4. Monitor PSI: </a:t>
            </a:r>
            <a:r>
              <a:rPr b="0" sz="1100">
                <a:solidFill>
                  <a:srgbClr val="E2E8F0"/>
                </a:solidFill>
                <a:latin typeface="Segoe UI"/>
              </a:rPr>
              <a:t>Matriz regulatoria de estabilidad temporal.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8BDF8"/>
                </a:solidFill>
                <a:latin typeface="Segoe UI"/>
              </a:rPr>
              <a:t>5. Selección: </a:t>
            </a:r>
            <a:r>
              <a:rPr b="0" sz="1100">
                <a:solidFill>
                  <a:srgbClr val="E2E8F0"/>
                </a:solidFill>
                <a:latin typeface="Segoe UI"/>
              </a:rPr>
              <a:t>Detalle de las 4 reglas estadísticas de depuración.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371600"/>
            <a:ext cx="5120640" cy="5029200"/>
          </a:xfrm>
          <a:prstGeom prst="roundRect">
            <a:avLst/>
          </a:prstGeom>
          <a:solidFill>
            <a:srgbClr val="162035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47548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34D399"/>
                </a:solidFill>
                <a:latin typeface="Segoe UI"/>
              </a:defRPr>
            </a:pPr>
            <a:r>
              <a:t>Experiencia del Simulador de Scoring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8BDF8"/>
                </a:solidFill>
                <a:latin typeface="Segoe UI"/>
              </a:rPr>
              <a:t>Gauge Radial Reactivo: </a:t>
            </a:r>
            <a:r>
              <a:rPr b="0" sz="1200">
                <a:solidFill>
                  <a:srgbClr val="E2E8F0"/>
                </a:solidFill>
                <a:latin typeface="Segoe UI"/>
              </a:rPr>
              <a:t>Visualización instantánea del FICO Score (300-850) con arco animado.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38BDF8"/>
                </a:solidFill>
                <a:latin typeface="Segoe UI"/>
              </a:rPr>
              <a:t>Perfiles Preconfigurados: </a:t>
            </a:r>
            <a:r>
              <a:rPr b="0" sz="1200">
                <a:solidFill>
                  <a:srgbClr val="E2E8F0"/>
                </a:solidFill>
                <a:latin typeface="Segoe UI"/>
              </a:rPr>
              <a:t>Botones de prueba rápida para casos típicos de negocio: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8BDF8"/>
                </a:solidFill>
                <a:latin typeface="Segoe UI"/>
              </a:rPr>
              <a:t>• Cliente Prime: </a:t>
            </a:r>
            <a:r>
              <a:rPr b="0" sz="1100">
                <a:solidFill>
                  <a:srgbClr val="E2E8F0"/>
                </a:solidFill>
                <a:latin typeface="Segoe UI"/>
              </a:rPr>
              <a:t>Score 778 | Aprobación automática STP | Tasa 7.00%.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8BDF8"/>
                </a:solidFill>
                <a:latin typeface="Segoe UI"/>
              </a:rPr>
              <a:t>• Riesgo Medio: </a:t>
            </a:r>
            <a:r>
              <a:rPr b="0" sz="1100">
                <a:solidFill>
                  <a:srgbClr val="E2E8F0"/>
                </a:solidFill>
                <a:latin typeface="Segoe UI"/>
              </a:rPr>
              <a:t>Score 642 | Derivación a revisión manual de ingresos.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38BDF8"/>
                </a:solidFill>
                <a:latin typeface="Segoe UI"/>
              </a:rPr>
              <a:t>• Alto Riesgo: </a:t>
            </a:r>
            <a:r>
              <a:rPr b="0" sz="1100">
                <a:solidFill>
                  <a:srgbClr val="E2E8F0"/>
                </a:solidFill>
                <a:latin typeface="Segoe UI"/>
              </a:rPr>
              <a:t>Score 495 | Rechazo por antecedentes morosos en buró.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BBF24"/>
                </a:solidFill>
                <a:latin typeface="Segoe UI"/>
              </a:rPr>
              <a:t>Explicabilidad Fair Lending: </a:t>
            </a:r>
            <a:r>
              <a:rPr b="0" sz="1200">
                <a:solidFill>
                  <a:srgbClr val="E2E8F0"/>
                </a:solidFill>
                <a:latin typeface="Segoe UI"/>
              </a:rPr>
              <a:t>Desglose de factores Waterfall (+/- puntos de impacto).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38BDF8"/>
                </a:solidFill>
                <a:latin typeface="Segoe UI"/>
              </a:rPr>
              <a:t>Acceso Local: </a:t>
            </a:r>
            <a:r>
              <a:rPr b="0" sz="1150">
                <a:solidFill>
                  <a:srgbClr val="FFFFFF"/>
                </a:solidFill>
                <a:latin typeface="Segoe UI"/>
              </a:rPr>
              <a:t>http://localhost:8088  |  Documentación OpenAPI: /docs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MLOPS LIFECYCLE &amp; STRATEGIC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Segoe UI"/>
              </a:defRPr>
            </a:pPr>
            <a:r>
              <a:t>Gobernanza MLOps, Roadmap &amp; Próximos Pasos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474720" cy="5029200"/>
          </a:xfrm>
          <a:prstGeom prst="roundRect">
            <a:avLst/>
          </a:prstGeom>
          <a:solidFill>
            <a:srgbClr val="162035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310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34D399"/>
                </a:solidFill>
                <a:latin typeface="Segoe UI"/>
              </a:defRPr>
            </a:pPr>
            <a:r>
              <a:t>Fase 1: Implementado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8BDF8"/>
                </a:solidFill>
                <a:latin typeface="Segoe UI"/>
              </a:rPr>
              <a:t>• Pipeline Reproducible: </a:t>
            </a:r>
            <a:r>
              <a:rPr b="0" sz="1150">
                <a:solidFill>
                  <a:srgbClr val="E2E8F0"/>
                </a:solidFill>
                <a:latin typeface="Segoe UI"/>
              </a:rPr>
              <a:t>CRISP-DM verificado en &lt; 5 segundos.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8BDF8"/>
                </a:solidFill>
                <a:latin typeface="Segoe UI"/>
              </a:rPr>
              <a:t>• Tratamiento Anti-Leakage: </a:t>
            </a:r>
            <a:r>
              <a:rPr b="0" sz="1150">
                <a:solidFill>
                  <a:srgbClr val="E2E8F0"/>
                </a:solidFill>
                <a:latin typeface="Segoe UI"/>
              </a:rPr>
              <a:t>Límites IQR y nulos en Train exclusivo.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8BDF8"/>
                </a:solidFill>
                <a:latin typeface="Segoe UI"/>
              </a:rPr>
              <a:t>• Scorecard Calibrado: </a:t>
            </a:r>
            <a:r>
              <a:rPr b="0" sz="1150">
                <a:solidFill>
                  <a:srgbClr val="E2E8F0"/>
                </a:solidFill>
                <a:latin typeface="Segoe UI"/>
              </a:rPr>
              <a:t>AUC 0.833, Gini 0.666 en Test independiente.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8BDF8"/>
                </a:solidFill>
                <a:latin typeface="Segoe UI"/>
              </a:rPr>
              <a:t>• Motor de Decisión: </a:t>
            </a:r>
            <a:r>
              <a:rPr b="0" sz="1150">
                <a:solidFill>
                  <a:srgbClr val="E2E8F0"/>
                </a:solidFill>
                <a:latin typeface="Segoe UI"/>
              </a:rPr>
              <a:t>Knockouts, Tiers y Pricing implementados.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8BDF8"/>
                </a:solidFill>
                <a:latin typeface="Segoe UI"/>
              </a:rPr>
              <a:t>• Dashboard Interactivo: </a:t>
            </a:r>
            <a:r>
              <a:rPr b="0" sz="1150">
                <a:solidFill>
                  <a:srgbClr val="E2E8F0"/>
                </a:solidFill>
                <a:latin typeface="Segoe UI"/>
              </a:rPr>
              <a:t>Aplicación web FastAPI operativa.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371600"/>
            <a:ext cx="3474720" cy="5029200"/>
          </a:xfrm>
          <a:prstGeom prst="roundRect">
            <a:avLst/>
          </a:prstGeom>
          <a:solidFill>
            <a:srgbClr val="162035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554480"/>
            <a:ext cx="310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Fase 2: Corto Plazo (Q1)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8BDF8"/>
                </a:solidFill>
                <a:latin typeface="Segoe UI"/>
              </a:rPr>
              <a:t>• Contenerización: </a:t>
            </a:r>
            <a:r>
              <a:rPr b="0" sz="1150">
                <a:solidFill>
                  <a:srgbClr val="E2E8F0"/>
                </a:solidFill>
                <a:latin typeface="Segoe UI"/>
              </a:rPr>
              <a:t>Empaquetado Docker/Podman de la API.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8BDF8"/>
                </a:solidFill>
                <a:latin typeface="Segoe UI"/>
              </a:rPr>
              <a:t>• Pipeline CI/CD: </a:t>
            </a:r>
            <a:r>
              <a:rPr b="0" sz="1150">
                <a:solidFill>
                  <a:srgbClr val="E2E8F0"/>
                </a:solidFill>
                <a:latin typeface="Segoe UI"/>
              </a:rPr>
              <a:t>Automatización con GitHub Actions y linting.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8BDF8"/>
                </a:solidFill>
                <a:latin typeface="Segoe UI"/>
              </a:rPr>
              <a:t>• Monitoreo de Deriva: </a:t>
            </a:r>
            <a:r>
              <a:rPr b="0" sz="1150">
                <a:solidFill>
                  <a:srgbClr val="E2E8F0"/>
                </a:solidFill>
                <a:latin typeface="Segoe UI"/>
              </a:rPr>
              <a:t>Alertas tempranas de PSI con Evidently AI.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8BDF8"/>
                </a:solidFill>
                <a:latin typeface="Segoe UI"/>
              </a:rPr>
              <a:t>• Persistencia SQL: </a:t>
            </a:r>
            <a:r>
              <a:rPr b="0" sz="1150">
                <a:solidFill>
                  <a:srgbClr val="E2E8F0"/>
                </a:solidFill>
                <a:latin typeface="Segoe UI"/>
              </a:rPr>
              <a:t>Conexión a base de datos de producción.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0144" y="1371600"/>
            <a:ext cx="3474720" cy="5029200"/>
          </a:xfrm>
          <a:prstGeom prst="roundRect">
            <a:avLst/>
          </a:prstGeom>
          <a:solidFill>
            <a:srgbClr val="162035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3024" y="1554480"/>
            <a:ext cx="310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BBF24"/>
                </a:solidFill>
                <a:latin typeface="Segoe UI"/>
              </a:defRPr>
            </a:pPr>
            <a:r>
              <a:t>Fase 3: Medio Plazo (Q2)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8BDF8"/>
                </a:solidFill>
                <a:latin typeface="Segoe UI"/>
              </a:rPr>
              <a:t>• Champion / Challenger: </a:t>
            </a:r>
            <a:r>
              <a:rPr b="0" sz="1150">
                <a:solidFill>
                  <a:srgbClr val="E2E8F0"/>
                </a:solidFill>
                <a:latin typeface="Segoe UI"/>
              </a:rPr>
              <a:t>Scorecard logístico vs Gradient Boosting.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8BDF8"/>
                </a:solidFill>
                <a:latin typeface="Segoe UI"/>
              </a:rPr>
              <a:t>• MLflow Registry: </a:t>
            </a:r>
            <a:r>
              <a:rPr b="0" sz="1150">
                <a:solidFill>
                  <a:srgbClr val="E2E8F0"/>
                </a:solidFill>
                <a:latin typeface="Segoe UI"/>
              </a:rPr>
              <a:t>Versionado de modelos, métricas y artefactos.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8BDF8"/>
                </a:solidFill>
                <a:latin typeface="Segoe UI"/>
              </a:rPr>
              <a:t>• Vintage Analysis: </a:t>
            </a:r>
            <a:r>
              <a:rPr b="0" sz="1150">
                <a:solidFill>
                  <a:srgbClr val="E2E8F0"/>
                </a:solidFill>
                <a:latin typeface="Segoe UI"/>
              </a:rPr>
              <a:t>Seguimiento de morosidad observada a 90 días.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8BDF8"/>
                </a:solidFill>
                <a:latin typeface="Segoe UI"/>
              </a:rPr>
              <a:t>• Alineación Actuarial: </a:t>
            </a:r>
            <a:r>
              <a:rPr b="0" sz="1150">
                <a:solidFill>
                  <a:srgbClr val="E2E8F0"/>
                </a:solidFill>
                <a:latin typeface="Segoe UI"/>
              </a:rPr>
              <a:t>Recalibración periódica de matrices de corte.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01828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188720"/>
            <a:ext cx="9601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FFFFFF"/>
                </a:solidFill>
                <a:latin typeface="Segoe UI"/>
              </a:defRPr>
            </a:pPr>
            <a:r>
              <a:t>Conclusión &amp; Sesión de Preguntas (Q&amp;A)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  <a:latin typeface="Segoe UI"/>
              </a:defRPr>
            </a:pPr>
            <a:r>
              <a:t>El proyecto demuestra la viabilidad de integrar rigor estadístico bancario (Basilea III / IFRS 9), interpretabilidad regulatoria absoluta y excelencia en ingeniería de software (MLOps, FastAPI y simulador interactivo).</a:t>
            </a:r>
          </a:p>
          <a:p>
            <a:pPr>
              <a:spcAft>
                <a:spcPts val="2000"/>
              </a:spcAft>
              <a:defRPr sz="1400">
                <a:solidFill>
                  <a:srgbClr val="E2E8F0"/>
                </a:solidFill>
                <a:latin typeface="Segoe UI"/>
              </a:defRPr>
            </a:pPr>
            <a:r>
              <a:t>Impacto esperado: reducción del 65% en costos operativos de suscripción (STP), control analítico de pérdidas esperadas y monitoreo continuo frente a deriva poblacional.</a:t>
            </a:r>
          </a:p>
          <a:p>
            <a:pPr>
              <a:defRPr sz="2200" b="1">
                <a:solidFill>
                  <a:srgbClr val="38BDF8"/>
                </a:solidFill>
                <a:latin typeface="Segoe UI"/>
              </a:defRPr>
            </a:pPr>
            <a:r>
              <a:t>Guillén Concepción</a:t>
            </a:r>
          </a:p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Senior Data Scientist &amp; MLOps Engineer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• LinkedIn: https://www.linkedin.com/in/guillen-concepcion-25266b127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• GitHub: https://github.com/GuillenConcepcion/Credit_Scoring_Project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• Email: guillenconcepcion@gmail.com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