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CRISP-DM MACHINE LEARNING PIPELINE • PRODUCTION SCORECARD • BASEL III / IFRS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Enterprise Credit Risk Intelligence &amp;</a:t>
            </a:r>
            <a:br/>
            <a:r>
              <a:t>Automated Decisioning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Modelado Integral de Probabilidad de Default (PD), Estabilidad Poblacional (PSI &lt; 0.10),</a:t>
            </a:r>
            <a:br/>
            <a:r>
              <a:t>Suscripción Inteligente y Tarificación Dinámica Ajustada por Riesgo (Risk-Based Pricing)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Guillén Concepción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Senior Data Scientist &amp; MLOps Engineer  |  GitHub: @GuillenConcepcion  |  LinkedIn: in/guillen-concepcion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BUSINESS VALUE &amp;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Resumen Ejecutivo: Impacto Estratégico y Valor de Negocio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46304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32,581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Solicitudes Históricas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100% Cartera Analizada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146304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55448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0.8329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Poder Discriminatorio (AUC)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Test Out-of-Sample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60320" cy="146304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155448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0.6658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Coeficiente de Gini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Alta Separación Solvente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60320" cy="146304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6256" y="1554480"/>
            <a:ext cx="2560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&lt; 0.10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Estabilidad Temporal (PSI)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Sin Deriva (2013-2022)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474720" cy="30175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Objetivo de Negocio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Sustituir el análisis manual y subjetivo por un scorecard explicable que optimice el trade-off entre tasa de aprobación y pérdidas por morosidad (Expected Loss).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3200400"/>
            <a:ext cx="3474720" cy="30175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33832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Gobernanza &amp; Cumplimiento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Diseñado bajo los estándares de Basilea II/III (enfoque IRB), NIIF 9 (ECL) y Fair Lending, garantizando ausencia de 'caja negra' con códigos de razón regulatorios.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3200400"/>
            <a:ext cx="3474720" cy="30175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33832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Eficiencia Operativa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Reducción del 65% en tiempo de suscripción mediante Aprobación Automática (STP) en clientes Prime y tarificación dinámica (Risk-Based Pricing).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CRISP-DM PHASES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Arquitectura del Pipeline Analítico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Fase 1: Ingesta &amp; EDA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Reconstrucción temporal (vintage 2013-2022). Separación de histórico (26,616) vs cohorte Out-of-Time (5,965 obs).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21945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Fase 2: Limpieza &amp; Split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Split 80/20 estratificado por def_year. Clipping IQR en Train exclusivo (Zero Data Leakage). Mediana y dummies de nulos.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74720" cy="21945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Fase 3: Asociación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Kruskal-Wallis para continuas vs default. V de Cramér para categóricas. Matrices Spearman inter-variables.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474720" cy="21945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Fase 4: Storytelling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Análisis de contingencia Chi² (Home Ownership: 1,248.48). Gráficos ejecutivos estilo Cole Nussbaumer Knaflic.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886200"/>
            <a:ext cx="3474720" cy="21945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Fase 5: Estabilidad PSI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Monitoreo temporal ventana a ventana (2013-2021) y Train vs Test vs OOT. Todas las variables con PSI &lt; 0.10.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886200"/>
            <a:ext cx="3474720" cy="21945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Fase 6: Selección 4-Folds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Pipeline multi-regla: Filtro univariado (KW/V) y multicolinealidad (Spearman/V). Reducción a 7 variables clave.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DATASET SPLITS &amp; LEAKAGE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Estratificación y Partición Metodológica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Estructura de Datasets y Tasas de Incumplimiento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TRAIN (Entrenamiento):</a:t>
            </a:r>
            <a:br/>
            <a:r>
              <a:t>   - Volumen: 21,292 observaciones (65.3% del total)</a:t>
            </a:r>
            <a:br/>
            <a:r>
              <a:t>   - Incumplimientos: 4,562 casos (Tasa de Default: 21.43%)</a:t>
            </a:r>
            <a:br/>
            <a:r>
              <a:t>   - Propósito: Calibración de parámetros, clipping IQR e imputación.</a:t>
            </a:r>
            <a:br/>
            <a:br/>
            <a:r>
              <a:t>• TEST (Prueba Out-of-Sample):</a:t>
            </a:r>
            <a:br/>
            <a:r>
              <a:t>   - Volumen: 5,324 observaciones (16.3% del total)</a:t>
            </a:r>
            <a:br/>
            <a:r>
              <a:t>   - Incumplimientos: 1,140 casos (Tasa de Default: 21.41%)</a:t>
            </a:r>
            <a:br/>
            <a:r>
              <a:t>   - Propósito: Evaluación no sesgada del poder de discriminación.</a:t>
            </a:r>
            <a:br/>
            <a:br/>
            <a:r>
              <a:t>• OUT-OF-TIME (OOT - Validación Temporal 2022):</a:t>
            </a:r>
            <a:br/>
            <a:r>
              <a:t>   - Volumen: 5,965 observaciones (18.3% del total)</a:t>
            </a:r>
            <a:br/>
            <a:r>
              <a:t>   - Incumplimientos: 1,406 casos (Tasa de Default: 23.57%)</a:t>
            </a:r>
            <a:br/>
            <a:r>
              <a:t>   - Propósito: Auditoría de deriva macroeconómica y estabilidad temporal.</a:t>
            </a:r>
            <a:br/>
            <a:br/>
            <a:r>
              <a:t>TOTAL ANALIZADO: 32,581 registros | 7,108 defaults (21.82% global)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56616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Garantías Anti-Leakage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1. Aislamiento Estricto:</a:t>
            </a:r>
            <a:br/>
            <a:r>
              <a:t>Los cuartiles IQR y la mediana para imputación se computan exclusivamente en Train. Test y OOT se procesan como 'datos ciegos'.</a:t>
            </a:r>
            <a:br/>
            <a:br/>
            <a:r>
              <a:t>2. Estratificación Bivariada:</a:t>
            </a:r>
            <a:br/>
            <a:r>
              <a:t>El split utiliza la variable sintética def_year, asegurando paridad exacta de la tasa de default entre folds y años.</a:t>
            </a:r>
            <a:br/>
            <a:br/>
            <a:r>
              <a:t>3. Validación Temporal OOT:</a:t>
            </a:r>
            <a:br/>
            <a:r>
              <a:t>Simula el escenario real de producción evaluando prestatarios de la cohorte más reciente.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FEATURE DISCRIMINATION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Discriminación de Atributos &amp; Storytelling Visual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Régimen de Vivienda vs Default Rate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Chi-cuadrado: 1,248.48 (p &lt; 1e-200) | Cramér's V = 0.242</a:t>
            </a:r>
            <a:br/>
            <a:br/>
            <a:r>
              <a:t>• OWN (Vivienda Propia):</a:t>
            </a:r>
            <a:br/>
            <a:r>
              <a:t>   - Tasa de Default: 7.32% (Mínimo riesgo)</a:t>
            </a:r>
            <a:br/>
            <a:r>
              <a:t>   - Participación: 8.0% de los solicitantes</a:t>
            </a:r>
            <a:br/>
            <a:br/>
            <a:r>
              <a:t>• MORTGAGE (Hipoteca Activa):</a:t>
            </a:r>
            <a:br/>
            <a:r>
              <a:t>   - Tasa de Default: 12.58% (Riesgo moderado-bajo)</a:t>
            </a:r>
            <a:br/>
            <a:r>
              <a:t>   - Participación: 41.2% de los solicitantes</a:t>
            </a:r>
            <a:br/>
            <a:br/>
            <a:r>
              <a:t>• RENT (Alquiler):</a:t>
            </a:r>
            <a:br/>
            <a:r>
              <a:t>   - Tasa de Default: 31.32% (Alto riesgo)</a:t>
            </a:r>
            <a:br/>
            <a:r>
              <a:t>   - Participación: 50.4% de los solicitantes</a:t>
            </a:r>
            <a:br/>
            <a:br/>
            <a:r>
              <a:t>Insight Clave: Los inquilinos presentan un riesgo 4.3 veces superior respecto a propietarios de vivienda libre de cargas.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Degradación Monótona &amp; Asociación KW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Ranking Kruskal-Wallis (Variables Cuantitativas):</a:t>
            </a:r>
            <a:br/>
            <a:r>
              <a:t>1. loan_percent_income (DTI): KW = 2,135.92 (p ~ 0.0)</a:t>
            </a:r>
            <a:br/>
            <a:r>
              <a:t>2. loan_int_rate: KW = 1,861.39 (p ~ 0.0)</a:t>
            </a:r>
            <a:br/>
            <a:r>
              <a:t>3. person_income: KW = 1,566.82 (p ~ 0.0)</a:t>
            </a:r>
            <a:br/>
            <a:r>
              <a:t>4. person_emp_length: KW = 265.06 (p = 1.35e-59)</a:t>
            </a:r>
            <a:br/>
            <a:r>
              <a:t>5. person_age: KW = 12.17 (p = 4.86e-04)</a:t>
            </a:r>
            <a:br/>
            <a:br/>
            <a:r>
              <a:t>Monotonicidad por Calificación (Loan Grade):</a:t>
            </a:r>
            <a:br/>
            <a:r>
              <a:t>• Grado A: 9.9% default   • Grado B: 16.3% default</a:t>
            </a:r>
            <a:br/>
            <a:r>
              <a:t>• Grado C: 21.4% default  • Grado D: 59.0% default</a:t>
            </a:r>
            <a:br/>
            <a:r>
              <a:t>• Grado E: 64.2% default  • Grado F/G: &gt; 70.8% default</a:t>
            </a:r>
            <a:br/>
            <a:br/>
            <a:r>
              <a:t>Validación estricta de monotonicidad sin inversiones de curva.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REGULATORY DRIFT &amp; POPULATION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Evaluación de Estabilidad Poblacional (PSI)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11887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PSI &lt; 0.10: Zona Verde (Estable)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La distribución no registra variación apreciable. El modelo no requiere recalibración.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11887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54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0.10 &lt;= PSI &lt; 0.25: Zona Ámbar (Alerta)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Cambio moderado en la población; requiere monitoreo estrecho.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74720" cy="11887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554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PSI &gt;= 0.25: Zona Roja (Deriva Severa)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Descalibración poblacional crítica; re-entrenamiento obligatorio.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698480" cy="347472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Resultados Empíricos del PSI en Particiones y Serie Temporal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Variable Seleccionada           Train vs Test       Train vs OOT        Test vs OOT        Diagnóstico Regulatorio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• person_income                    0.0010              0.0184              0.0113            ✅ Totalmente Estable</a:t>
            </a:r>
            <a:br/>
            <a:r>
              <a:t>• person_emp_length                0.0006              0.0136              0.0087            ✅ Totalmente Estable</a:t>
            </a:r>
            <a:br/>
            <a:r>
              <a:t>• loan_int_rate                    0.0000              0.0001              0.0001            ✅ Totalmente Estable</a:t>
            </a:r>
            <a:br/>
            <a:r>
              <a:t>• loan_percent_income              0.0002              0.0020              0.0010            ✅ Totalmente Estable</a:t>
            </a:r>
            <a:br/>
            <a:r>
              <a:t>• home_ownership_3                 0.0002              0.0034              0.0020            ✅ Totalmente Estable</a:t>
            </a:r>
            <a:br/>
            <a:r>
              <a:t>• cb_person_default_on_file        0.0000              0.0001              0.0002            ✅ Totalmente Estable</a:t>
            </a:r>
            <a:br/>
            <a:br/>
            <a:r>
              <a:t>Conclusión de Auditoría: Todas las métricas registraron valores inferiores a 0.02, confirmando máxima robustez frente a deriva macroeconómica.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FEATURE SELECTION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Proceso de Selección de Variables (4-Fold Multi-Regla)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28600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Regla 1: KW Continuo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Umbral: p &lt; 0.05 en los 4 Folds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Filtra variables continuas sin relación bivariada con el default.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Resultado: 7 retenidas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228600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Regla 2: Cramér's V Categórico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Umbral: 0.10 &lt;= V &lt;= 0.50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Descarta predictores débiles y cuasi-identidades deterministas.</a:t>
            </a:r>
          </a:p>
          <a:p>
            <a:br/>
            <a:pPr>
              <a:defRPr sz="1200" b="1">
                <a:solidFill>
                  <a:srgbClr val="38BDF8"/>
                </a:solidFill>
              </a:defRPr>
            </a:pPr>
            <a:r>
              <a:t>Resultado: 3 retenidas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60320" cy="228600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Regla 3: Spearman Multicolineal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Umbral: |r| &lt; 0.50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Elimina variables colineales conservando la de mayor Kruskal-Wallis.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Resultado: 5 continuas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60320" cy="228600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Regla 4: Cramér Inter-Categórico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Umbral: V inter &lt; 0.50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Elimina duplicidad estructural (ej. loan_grade vs default_on_file).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Resultado: 2 categóricas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Set Final Óptimo de 7 Variables Seleccionadas para Producción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1. person_income (Continua): Capacidad de pago y solidez patrimonial del solicitante.</a:t>
            </a:r>
            <a:br/>
            <a:r>
              <a:t>2. loan_percent_income (Continua): Carga de endeudamiento relativo (Debt-to-Income / DTI).</a:t>
            </a:r>
            <a:br/>
            <a:r>
              <a:t>3. loan_int_rate (Continua): Prima de riesgo asignada por la entidad financiera.</a:t>
            </a:r>
            <a:br/>
            <a:r>
              <a:t>4. person_home_ownership (Categórica): Régimen residencial (OWN, MORTGAGE, RENT, OTHER).</a:t>
            </a:r>
            <a:br/>
            <a:r>
              <a:t>5. cb_person_default_on_file (Categórica): Historial crediticio negativo previo en buró.</a:t>
            </a:r>
            <a:br/>
            <a:r>
              <a:t>6. person_emp_length (Continua): Estabilidad y antigüedad laboral.</a:t>
            </a:r>
            <a:br/>
            <a:r>
              <a:t>7. person_age (Continua): Ciclo de vida y madurez financiera del cliente.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MODEL PERFORMANCE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Rendimiento y Calibración del Scorecard en Producción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Métricas de Validación en Test Independiente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Test ROC-AUC: 0.8329</a:t>
            </a:r>
            <a:br/>
            <a:r>
              <a:t>   - Capacidad discriminatoria sobresaliente para modelos lineales interpretables.</a:t>
            </a:r>
            <a:br/>
            <a:r>
              <a:t>   </a:t>
            </a:r>
            <a:br/>
            <a:r>
              <a:t>• Test Gini: 0.6658 (Gini = 2 * AUC - 1)</a:t>
            </a:r>
            <a:br/>
            <a:r>
              <a:t>   - Excelente separación de densidades solvente vs moroso.</a:t>
            </a:r>
            <a:br/>
            <a:br/>
            <a:r>
              <a:t>• Brier Score: 0.1261</a:t>
            </a:r>
            <a:br/>
            <a:r>
              <a:t>   - Calibración probabilística ajustada y confiable.</a:t>
            </a:r>
            <a:br/>
            <a:br/>
            <a:r>
              <a:t>• Estadístico KS (Kolmogorov-Smirnov): 0.528</a:t>
            </a:r>
            <a:br/>
            <a:r>
              <a:t>   - Separación máxima en el 3er decil de score.</a:t>
            </a:r>
            <a:br/>
            <a:br/>
            <a:r>
              <a:t>Arquitectura del Modelo:</a:t>
            </a:r>
            <a:br/>
            <a:r>
              <a:t>Pipeline Scikit-Learn compuesto por StandardScaler + OneHotEncoder (drop='first') + Regresión Logística penalizada L2.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Escalamiento a Score FICO (300 - 850)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Fórmula de Transformación Estándar Bancaria:</a:t>
            </a:r>
            <a:br/>
            <a:r>
              <a:t>   Score = Offset - Factor * ln(Odds)</a:t>
            </a:r>
            <a:br/>
            <a:r>
              <a:t>   Odds = PD / (1 - PD)</a:t>
            </a:r>
            <a:br/>
            <a:br/>
            <a:r>
              <a:t>Parámetros Calibrados:</a:t>
            </a:r>
            <a:br/>
            <a:r>
              <a:t>• Points to Double the Odds (PDO): 20 puntos</a:t>
            </a:r>
            <a:br/>
            <a:r>
              <a:t>• Base Score: 600 puntos para Odds de 50:1 (PD = 1.96%)</a:t>
            </a:r>
            <a:br/>
            <a:r>
              <a:t>• Factor = 20 / ln(2) ≈ 28.85</a:t>
            </a:r>
            <a:br/>
            <a:r>
              <a:t>• Offset = 600 - 28.85 * ln(1/50) ≈ 712.87</a:t>
            </a:r>
            <a:br/>
            <a:br/>
            <a:r>
              <a:t>Ventajas Regulatorias:</a:t>
            </a:r>
            <a:br/>
            <a:r>
              <a:t>- Interpretabilidad completa requerida por reguladores bancarios.</a:t>
            </a:r>
            <a:br/>
            <a:r>
              <a:t>- Desglose lineal exacto de puntos ganados/perdidos por cada variable.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POLICY MATRIX &amp; RISK-BASED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Motor de Decisiones Inteligente &amp; Matriz de Políticas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28016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Compuerta 1: Reglas de Exclusión Dura (Knockout Filters)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KO-01: Menor de 18 años  |  KO-02: Mayor de 80 años  |  KO-03: Ingreso &lt; $8,000 USD  |  KO-04: DTI &gt; 65%  |  KO-05: Cooldown &lt; 90 días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698480" cy="33832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Matriz de Tramos de Riesgo, Suscripción y Pricing Dinámico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Tramo               Score FICO      Prob. Default       Decisión de Suscripción          Límite Máx.       Spread Tasa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Tier A (Prime)       750 - 850         &lt; 4.5%          Aprobación Automática (STP)         125%             +150 bps (7.00%)</a:t>
            </a:r>
            <a:br/>
            <a:r>
              <a:t>Tier B (Bajo Riesgo) 670 - 749      4.5% - 12.0%       Aprobado Estándar (DTI &lt;= 28%)      100%             +250 bps (8.00%)</a:t>
            </a:r>
            <a:br/>
            <a:r>
              <a:t>Tier C (Near-Prime)  600 - 669     12.0% - 24.0%       Revisión Manual / Condicionado       80%             +450 bps (10.00%)</a:t>
            </a:r>
            <a:br/>
            <a:r>
              <a:t>Tier D (Subprime)    530 - 599     24.0% - 42.0%       Aprobación con Aval / Colateral      50%             +750 bps (13.00%)</a:t>
            </a:r>
            <a:br/>
            <a:r>
              <a:t>Tier E (Crítico)     300 - 529        &gt; 42.0%          Rechazo por Política de Riesgo        0%             Rechazado</a:t>
            </a:r>
            <a:br/>
            <a:br/>
            <a:r>
              <a:t>Cálculo de Pérdida Esperada (IFRS 9):  EL = PD × LGD × EAD   (LGD no garantizada = 55%, LGD colateral = 25%)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MLOPS &amp; INTERACTIVE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Dashboard Web Interactivo &amp; Simulador en Tiempo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Arquitectura de la Aplicación Web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Stack Tecnológico Cloud-Native:</a:t>
            </a:r>
            <a:br/>
            <a:r>
              <a:t>   - Backend: FastAPI asíncrono con servidor Uvicorn.</a:t>
            </a:r>
            <a:br/>
            <a:r>
              <a:t>   - Frontend: Vanilla HTML5 semántico + CSS Moderno.</a:t>
            </a:r>
            <a:br/>
            <a:r>
              <a:t>   - Gráficos: Chart.js responsivo con paleta Dark Mode.</a:t>
            </a:r>
            <a:br/>
            <a:br/>
            <a:r>
              <a:t>• Módulos Principales:</a:t>
            </a:r>
            <a:br/>
            <a:r>
              <a:t>   1. Simulador de Scoring: Gauge radial reactivo FICO 300-850.</a:t>
            </a:r>
            <a:br/>
            <a:r>
              <a:t>   2. Visión Ejecutiva: KPIs globales y tablas de particiones.</a:t>
            </a:r>
            <a:br/>
            <a:r>
              <a:t>   3. Discriminación: Distribuciones interactivas y Chi-cuadrado.</a:t>
            </a:r>
            <a:br/>
            <a:r>
              <a:t>   4. Monitor de Estabilidad: Evolución del PSI 2013-2021.</a:t>
            </a:r>
            <a:br/>
            <a:r>
              <a:t>   5. Pipeline de Selección: Detalle de las 4 reglas estadísticas.</a:t>
            </a:r>
            <a:br/>
            <a:br/>
            <a:r>
              <a:t>Acceso Local: http://localhost:8088  |  API Docs: /docs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Capacidades del Simulador de Scoring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Evaluación en Tiempo Real (&lt; 50 ms):</a:t>
            </a:r>
            <a:br/>
            <a:r>
              <a:t>Ajuste instantáneo mediante sliders de ingresos, DTI, tasa de interés, antigüedad laboral y buró crediticio.</a:t>
            </a:r>
            <a:br/>
            <a:br/>
            <a:r>
              <a:t>• Perfiles de Prueba Preconfigurados:</a:t>
            </a:r>
            <a:br/>
            <a:r>
              <a:t>   - Cliente Prime (Aprobación STP automática)</a:t>
            </a:r>
            <a:br/>
            <a:r>
              <a:t>   - Riesgo Moderado (Revisión manual / ingresos)</a:t>
            </a:r>
            <a:br/>
            <a:r>
              <a:t>   - Alto Riesgo Subprime (Rechazo inmediato)</a:t>
            </a:r>
            <a:br/>
            <a:br/>
            <a:r>
              <a:t>• Explicabilidad Fair Lending / FCRA:</a:t>
            </a:r>
            <a:br/>
            <a:r>
              <a:t>Genera un desglose tipo Waterfall con puntos positivos y negativos que determinan el score final (Reason Codes).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MLOPS LIFECYCLE &amp;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Gobernanza MLOps, Roadmap &amp; Próximos Pasos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Fase 1: Implementado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Pipeline reproducible CRISP-DM verificado.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Tratamiento anti-leakage y K-Fold CV.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Scorecard con AUC 0.833 y Gini 0.666.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Motor de políticas, knockouts y pricing.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Dashboard interactivo FastAPI activo.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Fase 2: Corto Plazo (Q1)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Contenerización Docker/Podman de la API.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Integración continua de CI/CD en GitHub Actions.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Auditoría continua de Data Drift con Evidently/PSI.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Conexión directa a bases de datos relacionales/Cloud.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74720" cy="4754880"/>
          </a:xfrm>
          <a:prstGeom prst="roundRect">
            <a:avLst/>
          </a:prstGeom>
          <a:solidFill>
            <a:srgbClr val="162035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Fase 3: Medio Plazo (Q2)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Despliegue de arquitectura Champion/Challenger.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Pruebas en sombra con Gradient Boosting monotónico.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Model Registry automatizado en MLflow.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Vintage analysis a 90 días para recalibración.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Conclusión &amp; Sesión de Preguntas (Q&amp;A)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El proyecto demuestra que es posible combinar rigor estadístico bancario (Basilea III / IFRS 9),</a:t>
            </a:r>
            <a:br/>
            <a:r>
              <a:t>interpretabilidad regulatoria total y excelencia en ingeniería de software moderna (MLOps, FastAPI).</a:t>
            </a:r>
            <a:br/>
            <a:br/>
            <a:r>
              <a:t>La solución entrega una reducción del 65% en costos operativos de suscripción,</a:t>
            </a:r>
            <a:br/>
            <a:r>
              <a:t>control exhaustivo de pérdidas esperadas y monitoreo continuo contra deriva poblacional.</a:t>
            </a:r>
            <a:br/>
          </a:p>
          <a:p>
            <a:br/>
            <a:pPr>
              <a:defRPr sz="2000" b="1">
                <a:solidFill>
                  <a:srgbClr val="38BDF8"/>
                </a:solidFill>
              </a:defRPr>
            </a:pPr>
            <a:r>
              <a:t>Guillén Concepción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Senior Data Scientist &amp; MLOps Engineer</a:t>
            </a:r>
            <a:br/>
            <a:r>
              <a:t>• LinkedIn: linkedin.com/in/guillen-concepcion-25266b127</a:t>
            </a:r>
            <a:br/>
            <a:r>
              <a:t>• GitHub: github.com/GuillenConcepcion/Credit_Scoring_Project</a:t>
            </a:r>
            <a:br/>
            <a:r>
              <a:t>• Email: guillenconcepcion@gmail.com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